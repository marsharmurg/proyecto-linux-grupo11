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10287000" cx="18288000"/>
  <p:notesSz cx="6858000" cy="9144000"/>
  <p:embeddedFontLs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guyBu+XgDN1Yh3hVp/vC1XVSei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Breve saludo, presentación del equipo y objetivo general: automatizar e implementar un servidor con contenedores Docker y control de versiones. (Referencia del informe).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“Buenas tardes. Mi nombre es XXXX y esta es la presentación del Proyecto Final de la asignatura Introducción al Software Libre.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En este trabajo implementamos un servidor Linux con automatización, contenedores Docker y control de versiones. El proyecto se desarrolló en equipo junto a XXXX y XXXX.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proyecto tenía cuatro objetivos principales: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Configurar un servidor Linux completamente funcional.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Implementar servicios mediante contenedores Docker, lo cual permite una configuración rápida y reproducible.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Automatizar tareas administrativas usando scripts y cron.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/>
              <a:t>Administrar el proyecto con Git, manteniendo documentación y control de versiones.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resumen, buscamos integrar administración de sistemas, automatización y software libre.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Como resultado final, logramos un servidor completamente operativo.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Creamos un script de monitoreo que se ejecuta automáticamente cada 30 minutos.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También configuramos Docker para desplegar un servidor web con Nginx dentro de un contenedor.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 el proyecto está versionado en un repositorio de GitHub, incluyendo estructura, capturas y documentación.</a:t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la importancia de usuarios/grupos para permisos y seguridad.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Uno de los fundamentos del proyecto es la gestión adecuada de permisos.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Creamos varios usuarios con diferentes roles: </a:t>
            </a:r>
            <a:r>
              <a:rPr i="1" lang="en-US">
                <a:solidFill>
                  <a:schemeClr val="dk1"/>
                </a:solidFill>
              </a:rPr>
              <a:t>adminsys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i="1" lang="en-US">
                <a:solidFill>
                  <a:schemeClr val="dk1"/>
                </a:solidFill>
              </a:rPr>
              <a:t>técnico</a:t>
            </a:r>
            <a:r>
              <a:rPr lang="en-US">
                <a:solidFill>
                  <a:schemeClr val="dk1"/>
                </a:solidFill>
              </a:rPr>
              <a:t> y </a:t>
            </a:r>
            <a:r>
              <a:rPr i="1" lang="en-US">
                <a:solidFill>
                  <a:schemeClr val="dk1"/>
                </a:solidFill>
              </a:rPr>
              <a:t>visitante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Cada uno pertenece a grupos específicos que controlan lo que pueden o no pueden modificar dentro del sistema.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Por ejemplo, el grupo </a:t>
            </a:r>
            <a:r>
              <a:rPr i="1" lang="en-US">
                <a:solidFill>
                  <a:schemeClr val="dk1"/>
                </a:solidFill>
              </a:rPr>
              <a:t>web</a:t>
            </a:r>
            <a:r>
              <a:rPr lang="en-US">
                <a:solidFill>
                  <a:schemeClr val="dk1"/>
                </a:solidFill>
              </a:rPr>
              <a:t> tiene permisos sobre los archivos del sitio web, mientras que </a:t>
            </a:r>
            <a:r>
              <a:rPr i="1" lang="en-US">
                <a:solidFill>
                  <a:schemeClr val="dk1"/>
                </a:solidFill>
              </a:rPr>
              <a:t>soporte</a:t>
            </a:r>
            <a:r>
              <a:rPr lang="en-US">
                <a:solidFill>
                  <a:schemeClr val="dk1"/>
                </a:solidFill>
              </a:rPr>
              <a:t> tiene acceso a archivos de configuración. Esto permite un servidor más seguro y organizado, donde cada tarea se asigna correctamente según el rol.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4aea1636a_1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4aea1636a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4aea1636a_1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4aea1636a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4aea1636a_1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4aea1636a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4aea1636a_1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4aea1636a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4aea1636a_1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4aea1636a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Luego de crear el directorio principal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/proyecto/</a:t>
            </a:r>
            <a:r>
              <a:rPr lang="en-US">
                <a:solidFill>
                  <a:schemeClr val="dk1"/>
                </a:solidFill>
              </a:rPr>
              <a:t>, organizamos toda la estructura en carpetas como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datos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web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scripts</a:t>
            </a:r>
            <a:r>
              <a:rPr lang="en-US">
                <a:solidFill>
                  <a:schemeClr val="dk1"/>
                </a:solidFill>
              </a:rPr>
              <a:t> y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capturas</a:t>
            </a:r>
            <a:r>
              <a:rPr lang="en-US">
                <a:solidFill>
                  <a:schemeClr val="dk1"/>
                </a:solidFill>
              </a:rPr>
              <a:t>, lo cual permite separar configuración, contenido web, automatización y evidencias.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Un punto importante en esta fase fue la configuración del bit </a:t>
            </a:r>
            <a:r>
              <a:rPr b="1" lang="en-US">
                <a:solidFill>
                  <a:schemeClr val="dk1"/>
                </a:solidFill>
              </a:rPr>
              <a:t>setgid</a:t>
            </a:r>
            <a:r>
              <a:rPr lang="en-US">
                <a:solidFill>
                  <a:schemeClr val="dk1"/>
                </a:solidFill>
              </a:rPr>
              <a:t> en los directorios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datos</a:t>
            </a:r>
            <a:r>
              <a:rPr lang="en-US">
                <a:solidFill>
                  <a:schemeClr val="dk1"/>
                </a:solidFill>
              </a:rPr>
              <a:t> y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web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El objetivo del setgid es que cualquier archivo o carpeta creada dentro de esos directorios </a:t>
            </a:r>
            <a:r>
              <a:rPr b="1" lang="en-US">
                <a:solidFill>
                  <a:schemeClr val="dk1"/>
                </a:solidFill>
              </a:rPr>
              <a:t>herede automáticamente el grupo del directorio</a:t>
            </a:r>
            <a:r>
              <a:rPr lang="en-US">
                <a:solidFill>
                  <a:schemeClr val="dk1"/>
                </a:solidFill>
              </a:rPr>
              <a:t>, manteniendo así una administración de permisos consistente.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En las evidencias del proyecto se puede ver el resultado, donde ambos directorios aparecen con permisos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drwxr-sr-x</a:t>
            </a:r>
            <a:r>
              <a:rPr lang="en-US">
                <a:solidFill>
                  <a:schemeClr val="dk1"/>
                </a:solidFill>
              </a:rPr>
              <a:t>. La letra ‘s’ en el campo de grupo confirma que el bit setgid está activo.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Esto garantiza que el trabajo colaborativo dentro del servidor se mantenga ordenado y seguro, ya que cada miembro del grupo correcto puede gestionar los archivos correspondientes sin problemas de permisos.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aea1636a_1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4aea1636a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4aea1636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Otro </a:t>
            </a:r>
            <a:r>
              <a:rPr lang="en-US"/>
              <a:t>de los puntos importantes del proyecto fue crear un script de monitoreo del sistema.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script genera un reporte que incluye: fecha y hora, usuarios conectados, uso de disco, memoria disponible y contenedores en ejecución.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 cron, este script se ejecuta automáticamente cada 30 minutos.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automatización permite tener una auditoría constante del estado del servidor sin intervención humana, lo cual es esencial en entornos reales.</a:t>
            </a:r>
            <a:endParaRPr/>
          </a:p>
        </p:txBody>
      </p:sp>
      <p:sp>
        <p:nvSpPr>
          <p:cNvPr id="172" name="Google Shape;172;g3a4aea1636a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4aea1636a_1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4aea1636a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4aea1636a_1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4aea1636a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4aea1636a_1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4aea1636a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4aea1636a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Para asegurar trazabilidad y control, versionamos todo el proyecto usando Git.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Inicializamos el repositorio en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/proyecto/</a:t>
            </a:r>
            <a:r>
              <a:rPr lang="en-US">
                <a:solidFill>
                  <a:schemeClr val="dk1"/>
                </a:solidFill>
              </a:rPr>
              <a:t>, realizamos commits por etapas y configuramos un repositorio remoto en GitHub.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Esto permite que cualquier persona pueda revisar los cambios, descargar el proyecto completo y comprender cómo se configuró el servidor paso a paso.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</a:rPr>
              <a:t>Además, esta práctica es estándar en la industria y evita pérdida de archivos o configuraciones</a:t>
            </a:r>
            <a:endParaRPr b="1"/>
          </a:p>
        </p:txBody>
      </p:sp>
      <p:sp>
        <p:nvSpPr>
          <p:cNvPr id="203" name="Google Shape;203;g3a4aea1636a_1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4aea1636a_1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4aea1636a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4aea1636a_1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4aea1636a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4aea1636a_1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4aea1636a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4aea1636a_1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4aea1636a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4aea1636a_1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4aea1636a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4aea1636a_1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4aea1636a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4aea1636a_1_2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a4aea1636a_1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4aea1636a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Instalamos Docker para ejecutar servicios en contenedores.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Verificamos que el servicio estuviera activo y configurado para iniciarse automáticamente con el sistema.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Agregamos a los usuarios necesarios al grupo </a:t>
            </a:r>
            <a:r>
              <a:rPr i="1" lang="en-US">
                <a:solidFill>
                  <a:schemeClr val="dk1"/>
                </a:solidFill>
              </a:rPr>
              <a:t>docker</a:t>
            </a:r>
            <a:r>
              <a:rPr lang="en-US">
                <a:solidFill>
                  <a:schemeClr val="dk1"/>
                </a:solidFill>
              </a:rPr>
              <a:t> para permitir que ejecutaran contenedores sin usar sudo, lo cual facilita la operación diaria del servidor.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53" name="Google Shape;253;g3a4aea1636a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4aea1636a_1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4aea1636a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4aea1636a_1_1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4aea1636a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4aea1636a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Uno de los componentes más importantes del proyecto fue el despliegue de un servidor web usando Nginx dentro de un contenedor Docker.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Usamos un volumen para conectar los archivos del sitio web desde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/proyecto/web</a:t>
            </a:r>
            <a:r>
              <a:rPr lang="en-US">
                <a:solidFill>
                  <a:schemeClr val="dk1"/>
                </a:solidFill>
              </a:rPr>
              <a:t> hacia el contenedor. Esto asegura persistencia de datos, incluso si el contenedor se reinicia.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También mapeamos el puerto del contenedor al servidor host, permitiendo acceder al sitio web desde el navegador.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</a:rPr>
              <a:t>Este enfoque hace que el servidor sea fácil de actualizar, replicar y mantener.</a:t>
            </a:r>
            <a:endParaRPr b="1"/>
          </a:p>
        </p:txBody>
      </p:sp>
      <p:sp>
        <p:nvSpPr>
          <p:cNvPr id="277" name="Google Shape;277;g3a4aea1636a_1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4aea1636a_1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4aea1636a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4aea1636a_1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4aea1636a_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4aea1636a_1_2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4aea1636a_1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4aea1636a_1_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a4aea1636a_1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4aea1636a_1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4aea1636a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4aea1636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Incluimos capturas de pantalla del funcionamiento del sistema: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La estructura del proyecto.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Permisos correctos.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Logs generados por cron.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Contenedores activos.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El sitio web funcionando en el navegador.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Estas evidencias permiten validar todo el proceso de implementación.</a:t>
            </a:r>
            <a:endParaRPr b="1"/>
          </a:p>
        </p:txBody>
      </p:sp>
      <p:sp>
        <p:nvSpPr>
          <p:cNvPr id="317" name="Google Shape;317;g3a4aea1636a_1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4aea1636a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Este proyecto nos permitió integrar conocimientos clave en Linux, automatización y contenedores.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Aprendimos la importancia de separar roles, proteger directorios, documentar configuraciones y usar control de versiones.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También observamos cómo Docker facilita la creación de entornos reproducibles y cómo la automatización ayuda a mantener un servidor estable.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Una mejora futura sería usar Docker Compose o incluir backups automáticos.</a:t>
            </a:r>
            <a:endParaRPr b="1"/>
          </a:p>
        </p:txBody>
      </p:sp>
      <p:sp>
        <p:nvSpPr>
          <p:cNvPr id="329" name="Google Shape;329;g3a4aea1636a_1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7.jp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7.jp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jp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jp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jp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jp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jp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0720054" y="-13845419"/>
            <a:ext cx="8000872" cy="24323834"/>
          </a:xfrm>
          <a:custGeom>
            <a:rect b="b" l="l" r="r" t="t"/>
            <a:pathLst>
              <a:path extrusionOk="0" h="24323834" w="8000872">
                <a:moveTo>
                  <a:pt x="0" y="0"/>
                </a:moveTo>
                <a:lnTo>
                  <a:pt x="8000871" y="0"/>
                </a:lnTo>
                <a:lnTo>
                  <a:pt x="8000871" y="24323834"/>
                </a:lnTo>
                <a:lnTo>
                  <a:pt x="0" y="24323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3000"/>
            </a:blip>
            <a:stretch>
              <a:fillRect b="0" l="-134641" r="-199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0" y="0"/>
            <a:ext cx="6805173" cy="24323834"/>
          </a:xfrm>
          <a:custGeom>
            <a:rect b="b" l="l" r="r" t="t"/>
            <a:pathLst>
              <a:path extrusionOk="0" h="24323834" w="6805173">
                <a:moveTo>
                  <a:pt x="0" y="0"/>
                </a:moveTo>
                <a:lnTo>
                  <a:pt x="6805173" y="0"/>
                </a:lnTo>
                <a:lnTo>
                  <a:pt x="6805173" y="24323834"/>
                </a:lnTo>
                <a:lnTo>
                  <a:pt x="0" y="24323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3000"/>
            </a:blip>
            <a:stretch>
              <a:fillRect b="0" l="-775" r="-175329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4753343" y="367413"/>
            <a:ext cx="7980300" cy="9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UNIVERSIDAD DE EL SALVADOR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Facultad Multidisciplinaria De Occidente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Departamento de Ingeniería y Arquitectura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en Desarrollo de Software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Asignatura: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2"/>
              <a:t>INTRODUCCIÓN</a:t>
            </a:r>
            <a:r>
              <a:rPr lang="en-US" sz="2142"/>
              <a:t> AL SOFTWARE LIBRE (ISL135)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Ciclo II / </a:t>
            </a:r>
            <a:r>
              <a:rPr lang="en-US" sz="2142"/>
              <a:t>2025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Tema: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2"/>
              <a:t>PROYECTO FINAL</a:t>
            </a: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Coordinadora de Cátedra: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2"/>
              <a:t>Ing. Ángela de Granillo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Tutora GT0</a:t>
            </a:r>
            <a:r>
              <a:rPr lang="en-US" sz="2142"/>
              <a:t>3</a:t>
            </a: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2"/>
              <a:t>Ing. Graciela Albaluz Escalante Grijalva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Alumnos grupo 11:</a:t>
            </a:r>
            <a:endParaRPr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2"/>
              <a:t>Jorge Ernesto López Rodríguez </a:t>
            </a:r>
            <a:endParaRPr sz="2142"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2"/>
              <a:t>Marcos Shafitk Murga</a:t>
            </a:r>
            <a:endParaRPr sz="2142"/>
          </a:p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2"/>
              <a:t>Rolando Duran Colocho</a:t>
            </a:r>
            <a:endParaRPr sz="2142"/>
          </a:p>
        </p:txBody>
      </p:sp>
      <p:sp>
        <p:nvSpPr>
          <p:cNvPr id="87" name="Google Shape;87;p1"/>
          <p:cNvSpPr/>
          <p:nvPr/>
        </p:nvSpPr>
        <p:spPr>
          <a:xfrm>
            <a:off x="12494448" y="405513"/>
            <a:ext cx="1246375" cy="1246375"/>
          </a:xfrm>
          <a:custGeom>
            <a:rect b="b" l="l" r="r" t="t"/>
            <a:pathLst>
              <a:path extrusionOk="0" h="1246375" w="1246375">
                <a:moveTo>
                  <a:pt x="0" y="0"/>
                </a:moveTo>
                <a:lnTo>
                  <a:pt x="1246375" y="0"/>
                </a:lnTo>
                <a:lnTo>
                  <a:pt x="1246375" y="1246374"/>
                </a:lnTo>
                <a:lnTo>
                  <a:pt x="0" y="12463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4223508" y="405513"/>
            <a:ext cx="1059859" cy="1366264"/>
          </a:xfrm>
          <a:custGeom>
            <a:rect b="b" l="l" r="r" t="t"/>
            <a:pathLst>
              <a:path extrusionOk="0" h="1366264" w="1059859">
                <a:moveTo>
                  <a:pt x="0" y="0"/>
                </a:moveTo>
                <a:lnTo>
                  <a:pt x="1059859" y="0"/>
                </a:lnTo>
                <a:lnTo>
                  <a:pt x="1059859" y="1366263"/>
                </a:lnTo>
                <a:lnTo>
                  <a:pt x="0" y="13662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7" l="0" r="0" t="-9258"/>
            </a:stretch>
          </a:blipFill>
          <a:ln>
            <a:noFill/>
          </a:ln>
        </p:spPr>
      </p:sp>
      <p:grpSp>
        <p:nvGrpSpPr>
          <p:cNvPr id="94" name="Google Shape;94;p2"/>
          <p:cNvGrpSpPr/>
          <p:nvPr/>
        </p:nvGrpSpPr>
        <p:grpSpPr>
          <a:xfrm>
            <a:off x="1841814" y="2673708"/>
            <a:ext cx="14457162" cy="6976497"/>
            <a:chOff x="0" y="-76200"/>
            <a:chExt cx="3807647" cy="1837431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3807647" cy="1761231"/>
            </a:xfrm>
            <a:custGeom>
              <a:rect b="b" l="l" r="r" t="t"/>
              <a:pathLst>
                <a:path extrusionOk="0" h="1761231" w="3807647">
                  <a:moveTo>
                    <a:pt x="0" y="0"/>
                  </a:moveTo>
                  <a:lnTo>
                    <a:pt x="3807647" y="0"/>
                  </a:lnTo>
                  <a:lnTo>
                    <a:pt x="3807647" y="1761231"/>
                  </a:lnTo>
                  <a:lnTo>
                    <a:pt x="0" y="1761231"/>
                  </a:lnTo>
                  <a:close/>
                </a:path>
              </a:pathLst>
            </a:custGeom>
            <a:gradFill>
              <a:gsLst>
                <a:gs pos="0">
                  <a:srgbClr val="03295A">
                    <a:alpha val="61960"/>
                  </a:srgbClr>
                </a:gs>
                <a:gs pos="100000">
                  <a:srgbClr val="041468">
                    <a:alpha val="74117"/>
                  </a:srgbClr>
                </a:gs>
              </a:gsLst>
              <a:lin ang="0" scaled="0"/>
            </a:gradFill>
            <a:ln cap="sq" cmpd="sng" w="38100">
              <a:solidFill>
                <a:srgbClr val="10A5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3807646" cy="1837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2"/>
          <p:cNvSpPr txBox="1"/>
          <p:nvPr/>
        </p:nvSpPr>
        <p:spPr>
          <a:xfrm>
            <a:off x="3165607" y="584588"/>
            <a:ext cx="11956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</a:rPr>
              <a:t>Objetivos del proyecto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2006738" y="3119874"/>
            <a:ext cx="141273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</a:pPr>
            <a:r>
              <a:rPr lang="en-US" sz="3000">
                <a:solidFill>
                  <a:srgbClr val="FFFFFF"/>
                </a:solidFill>
              </a:rPr>
              <a:t>Implementar un servidor Linux automatizado.</a:t>
            </a:r>
            <a:endParaRPr sz="3000">
              <a:solidFill>
                <a:srgbClr val="FFFFFF"/>
              </a:solidFill>
            </a:endParaRPr>
          </a:p>
          <a:p>
            <a:pPr indent="-41910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</a:pPr>
            <a:r>
              <a:rPr lang="en-US" sz="3000">
                <a:solidFill>
                  <a:srgbClr val="FFFFFF"/>
                </a:solidFill>
              </a:rPr>
              <a:t>Usar contenedores (Docker) para desplegar servicios.</a:t>
            </a:r>
            <a:endParaRPr sz="3000">
              <a:solidFill>
                <a:srgbClr val="FFFFFF"/>
              </a:solidFill>
            </a:endParaRPr>
          </a:p>
          <a:p>
            <a:pPr indent="-41910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</a:pPr>
            <a:r>
              <a:rPr lang="en-US" sz="3000">
                <a:solidFill>
                  <a:srgbClr val="FFFFFF"/>
                </a:solidFill>
              </a:rPr>
              <a:t>Crear scripts de monitoreo y tareas programadas.</a:t>
            </a:r>
            <a:endParaRPr sz="3000">
              <a:solidFill>
                <a:srgbClr val="FFFFFF"/>
              </a:solidFill>
            </a:endParaRPr>
          </a:p>
          <a:p>
            <a:pPr indent="-41910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</a:pPr>
            <a:r>
              <a:rPr lang="en-US" sz="3000">
                <a:solidFill>
                  <a:srgbClr val="FFFFFF"/>
                </a:solidFill>
              </a:rPr>
              <a:t>Versionar con Git y alojar en GitHub.</a:t>
            </a:r>
            <a:endParaRPr sz="3000">
              <a:solidFill>
                <a:srgbClr val="FFFFFF"/>
              </a:solidFill>
            </a:endParaRPr>
          </a:p>
        </p:txBody>
      </p:sp>
      <p:pic>
        <p:nvPicPr>
          <p:cNvPr id="99" name="Google Shape;9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8675" y="6287350"/>
            <a:ext cx="657225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40050" y="6287350"/>
            <a:ext cx="5675453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8" l="-32805" r="0" t="-48140"/>
            </a:stretch>
          </a:blipFill>
          <a:ln>
            <a:noFill/>
          </a:ln>
        </p:spPr>
      </p:sp>
      <p:grpSp>
        <p:nvGrpSpPr>
          <p:cNvPr id="106" name="Google Shape;106;p3"/>
          <p:cNvGrpSpPr/>
          <p:nvPr/>
        </p:nvGrpSpPr>
        <p:grpSpPr>
          <a:xfrm>
            <a:off x="1774018" y="2572752"/>
            <a:ext cx="14739965" cy="6552287"/>
            <a:chOff x="0" y="-76200"/>
            <a:chExt cx="3882131" cy="1725705"/>
          </a:xfrm>
        </p:grpSpPr>
        <p:sp>
          <p:nvSpPr>
            <p:cNvPr id="107" name="Google Shape;107;p3"/>
            <p:cNvSpPr/>
            <p:nvPr/>
          </p:nvSpPr>
          <p:spPr>
            <a:xfrm>
              <a:off x="0" y="0"/>
              <a:ext cx="3882130" cy="1649505"/>
            </a:xfrm>
            <a:custGeom>
              <a:rect b="b" l="l" r="r" t="t"/>
              <a:pathLst>
                <a:path extrusionOk="0" h="1649505" w="3882130">
                  <a:moveTo>
                    <a:pt x="0" y="0"/>
                  </a:moveTo>
                  <a:lnTo>
                    <a:pt x="3882130" y="0"/>
                  </a:lnTo>
                  <a:lnTo>
                    <a:pt x="3882130" y="1649505"/>
                  </a:lnTo>
                  <a:lnTo>
                    <a:pt x="0" y="1649505"/>
                  </a:lnTo>
                  <a:close/>
                </a:path>
              </a:pathLst>
            </a:custGeom>
            <a:gradFill>
              <a:gsLst>
                <a:gs pos="0">
                  <a:srgbClr val="03295A">
                    <a:alpha val="61960"/>
                  </a:srgbClr>
                </a:gs>
                <a:gs pos="100000">
                  <a:srgbClr val="041468">
                    <a:alpha val="74117"/>
                  </a:srgbClr>
                </a:gs>
              </a:gsLst>
              <a:lin ang="0" scaled="0"/>
            </a:gradFill>
            <a:ln cap="sq" cmpd="sng" w="38100">
              <a:solidFill>
                <a:srgbClr val="10A5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8" name="Google Shape;108;p3"/>
            <p:cNvSpPr txBox="1"/>
            <p:nvPr/>
          </p:nvSpPr>
          <p:spPr>
            <a:xfrm>
              <a:off x="0" y="-76200"/>
              <a:ext cx="3882131" cy="1725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3"/>
          <p:cNvSpPr txBox="1"/>
          <p:nvPr/>
        </p:nvSpPr>
        <p:spPr>
          <a:xfrm>
            <a:off x="2715061" y="1513353"/>
            <a:ext cx="128580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14">
                <a:solidFill>
                  <a:srgbClr val="FFFFFF"/>
                </a:solidFill>
              </a:rPr>
              <a:t>Resumen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2080345" y="2938586"/>
            <a:ext cx="141273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1" marL="9144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•"/>
            </a:pPr>
            <a:r>
              <a:rPr lang="en-US" sz="3000">
                <a:solidFill>
                  <a:srgbClr val="FFFFFF"/>
                </a:solidFill>
              </a:rPr>
              <a:t>Servidor funcional y automatizado.</a:t>
            </a:r>
            <a:br>
              <a:rPr lang="en-US" sz="3000">
                <a:solidFill>
                  <a:srgbClr val="FFFFFF"/>
                </a:solidFill>
              </a:rPr>
            </a:br>
            <a:endParaRPr sz="3000">
              <a:solidFill>
                <a:srgbClr val="FFFFFF"/>
              </a:solidFill>
            </a:endParaRPr>
          </a:p>
          <a:p>
            <a:pPr indent="-419100" lvl="1" marL="9144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•"/>
            </a:pPr>
            <a:r>
              <a:rPr lang="en-US" sz="3000">
                <a:solidFill>
                  <a:srgbClr val="FFFFFF"/>
                </a:solidFill>
              </a:rPr>
              <a:t>Script de monitoreo en cron (cada 30 min).</a:t>
            </a:r>
            <a:br>
              <a:rPr lang="en-US" sz="3000">
                <a:solidFill>
                  <a:srgbClr val="FFFFFF"/>
                </a:solidFill>
              </a:rPr>
            </a:br>
            <a:endParaRPr sz="3000">
              <a:solidFill>
                <a:srgbClr val="FFFFFF"/>
              </a:solidFill>
            </a:endParaRPr>
          </a:p>
          <a:p>
            <a:pPr indent="-419100" lvl="1" marL="9144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•"/>
            </a:pPr>
            <a:r>
              <a:rPr lang="en-US" sz="3000">
                <a:solidFill>
                  <a:srgbClr val="FFFFFF"/>
                </a:solidFill>
              </a:rPr>
              <a:t>Repositorio en 	GitHub: github.com/marsharmurg/proyecto-linux-grupo11.</a:t>
            </a:r>
            <a:br>
              <a:rPr lang="en-US" sz="3000">
                <a:solidFill>
                  <a:srgbClr val="FFFFFF"/>
                </a:solidFill>
              </a:rPr>
            </a:br>
            <a:endParaRPr sz="3000">
              <a:solidFill>
                <a:srgbClr val="FFFFFF"/>
              </a:solidFill>
            </a:endParaRPr>
          </a:p>
          <a:p>
            <a:pPr indent="-419100" lvl="1" marL="9144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•"/>
            </a:pPr>
            <a:r>
              <a:rPr lang="en-US" sz="3000">
                <a:solidFill>
                  <a:srgbClr val="FFFFFF"/>
                </a:solidFill>
              </a:rPr>
              <a:t>Nginx desplegado en contenedor con volúmenes persistentes y mapeo de puertos.</a:t>
            </a:r>
            <a:endParaRPr b="0" i="0" sz="3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7" l="0" r="0" t="-9258"/>
            </a:stretch>
          </a:blipFill>
          <a:ln>
            <a:noFill/>
          </a:ln>
        </p:spPr>
      </p:sp>
      <p:grpSp>
        <p:nvGrpSpPr>
          <p:cNvPr id="116" name="Google Shape;116;p4"/>
          <p:cNvGrpSpPr/>
          <p:nvPr/>
        </p:nvGrpSpPr>
        <p:grpSpPr>
          <a:xfrm>
            <a:off x="1841814" y="2429175"/>
            <a:ext cx="14457162" cy="6036660"/>
            <a:chOff x="0" y="-76200"/>
            <a:chExt cx="3807647" cy="1589902"/>
          </a:xfrm>
        </p:grpSpPr>
        <p:sp>
          <p:nvSpPr>
            <p:cNvPr id="117" name="Google Shape;117;p4"/>
            <p:cNvSpPr/>
            <p:nvPr/>
          </p:nvSpPr>
          <p:spPr>
            <a:xfrm>
              <a:off x="0" y="0"/>
              <a:ext cx="3807647" cy="1513702"/>
            </a:xfrm>
            <a:custGeom>
              <a:rect b="b" l="l" r="r" t="t"/>
              <a:pathLst>
                <a:path extrusionOk="0" h="1513702" w="3807647">
                  <a:moveTo>
                    <a:pt x="0" y="0"/>
                  </a:moveTo>
                  <a:lnTo>
                    <a:pt x="3807647" y="0"/>
                  </a:lnTo>
                  <a:lnTo>
                    <a:pt x="3807647" y="1513702"/>
                  </a:lnTo>
                  <a:lnTo>
                    <a:pt x="0" y="1513702"/>
                  </a:lnTo>
                  <a:close/>
                </a:path>
              </a:pathLst>
            </a:custGeom>
            <a:gradFill>
              <a:gsLst>
                <a:gs pos="0">
                  <a:srgbClr val="03295A">
                    <a:alpha val="61960"/>
                  </a:srgbClr>
                </a:gs>
                <a:gs pos="100000">
                  <a:srgbClr val="041468">
                    <a:alpha val="74117"/>
                  </a:srgbClr>
                </a:gs>
              </a:gsLst>
              <a:lin ang="0" scaled="0"/>
            </a:gradFill>
            <a:ln cap="sq" cmpd="sng" w="38100">
              <a:solidFill>
                <a:srgbClr val="10A5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8" name="Google Shape;118;p4"/>
            <p:cNvSpPr txBox="1"/>
            <p:nvPr/>
          </p:nvSpPr>
          <p:spPr>
            <a:xfrm>
              <a:off x="0" y="-76200"/>
              <a:ext cx="3807646" cy="1589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4"/>
          <p:cNvSpPr/>
          <p:nvPr/>
        </p:nvSpPr>
        <p:spPr>
          <a:xfrm flipH="1">
            <a:off x="11321" y="7926702"/>
            <a:ext cx="2630134" cy="2386248"/>
          </a:xfrm>
          <a:custGeom>
            <a:rect b="b" l="l" r="r" t="t"/>
            <a:pathLst>
              <a:path extrusionOk="0" h="2386248" w="2630134">
                <a:moveTo>
                  <a:pt x="2630133" y="0"/>
                </a:moveTo>
                <a:lnTo>
                  <a:pt x="0" y="0"/>
                </a:lnTo>
                <a:lnTo>
                  <a:pt x="0" y="2386249"/>
                </a:lnTo>
                <a:lnTo>
                  <a:pt x="2630133" y="2386249"/>
                </a:lnTo>
                <a:lnTo>
                  <a:pt x="263013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 txBox="1"/>
          <p:nvPr/>
        </p:nvSpPr>
        <p:spPr>
          <a:xfrm>
            <a:off x="2006738" y="3013821"/>
            <a:ext cx="141273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</a:pPr>
            <a:r>
              <a:rPr lang="en-US" sz="3000">
                <a:solidFill>
                  <a:srgbClr val="FFFFFF"/>
                </a:solidFill>
              </a:rPr>
              <a:t>Creación de usuarios: adminsys, tecnico, visitante.</a:t>
            </a:r>
            <a:endParaRPr sz="3000">
              <a:solidFill>
                <a:srgbClr val="FFFFFF"/>
              </a:solidFill>
            </a:endParaRPr>
          </a:p>
          <a:p>
            <a:pPr indent="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-41910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</a:pPr>
            <a:r>
              <a:rPr lang="en-US" sz="3000">
                <a:solidFill>
                  <a:srgbClr val="FFFFFF"/>
                </a:solidFill>
              </a:rPr>
              <a:t>Asignación a grupos según rol (ej. soporte, web).</a:t>
            </a:r>
            <a:endParaRPr sz="3000">
              <a:solidFill>
                <a:srgbClr val="FFFFFF"/>
              </a:solidFill>
            </a:endParaRPr>
          </a:p>
          <a:p>
            <a:pPr indent="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-419100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●"/>
            </a:pPr>
            <a:r>
              <a:rPr lang="en-US" sz="3000">
                <a:solidFill>
                  <a:srgbClr val="FFFFFF"/>
                </a:solidFill>
              </a:rPr>
              <a:t>Comando usado (ejemplo): sudo adduser adminsys y usermod -aG docker adminsys.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5949994" y="971550"/>
            <a:ext cx="1699303" cy="1746947"/>
          </a:xfrm>
          <a:custGeom>
            <a:rect b="b" l="l" r="r" t="t"/>
            <a:pathLst>
              <a:path extrusionOk="0" h="1746947" w="1699303">
                <a:moveTo>
                  <a:pt x="0" y="0"/>
                </a:moveTo>
                <a:lnTo>
                  <a:pt x="1699303" y="0"/>
                </a:lnTo>
                <a:lnTo>
                  <a:pt x="1699303" y="1746947"/>
                </a:lnTo>
                <a:lnTo>
                  <a:pt x="0" y="17469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1297850" y="904875"/>
            <a:ext cx="150012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14">
                <a:solidFill>
                  <a:srgbClr val="FFFFFF"/>
                </a:solidFill>
              </a:rPr>
              <a:t>Preparación del servidor (usuarios y grupos)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127" name="Google Shape;127;g3a4aea1636a_1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13" y="76200"/>
            <a:ext cx="17974573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132" name="Google Shape;132;g3a4aea1636a_1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8986" y="-43925"/>
            <a:ext cx="18405972" cy="1037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137" name="Google Shape;137;g3a4aea1636a_1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39" y="0"/>
            <a:ext cx="18250122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142" name="Google Shape;142;g3a4aea1636a_1_111"/>
          <p:cNvPicPr preferRelativeResize="0"/>
          <p:nvPr/>
        </p:nvPicPr>
        <p:blipFill rotWithShape="1">
          <a:blip r:embed="rId3">
            <a:alphaModFix/>
          </a:blip>
          <a:srcRect b="71082" l="0" r="0" t="0"/>
          <a:stretch/>
        </p:blipFill>
        <p:spPr>
          <a:xfrm>
            <a:off x="154125" y="825900"/>
            <a:ext cx="17979751" cy="293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El contenido generado por IA puede ser incorrecto." id="143" name="Google Shape;143;g3a4aea1636a_1_111"/>
          <p:cNvPicPr preferRelativeResize="0"/>
          <p:nvPr/>
        </p:nvPicPr>
        <p:blipFill rotWithShape="1">
          <a:blip r:embed="rId4">
            <a:alphaModFix/>
          </a:blip>
          <a:srcRect b="60219" l="0" r="0" t="0"/>
          <a:stretch/>
        </p:blipFill>
        <p:spPr>
          <a:xfrm>
            <a:off x="154125" y="4616125"/>
            <a:ext cx="17979751" cy="403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a4aea1636a_1_111"/>
          <p:cNvSpPr txBox="1"/>
          <p:nvPr/>
        </p:nvSpPr>
        <p:spPr>
          <a:xfrm>
            <a:off x="300800" y="4015825"/>
            <a:ext cx="11874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Asignación de usuarios a los grupos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a4aea1636a_1_111"/>
          <p:cNvSpPr txBox="1"/>
          <p:nvPr/>
        </p:nvSpPr>
        <p:spPr>
          <a:xfrm>
            <a:off x="601575" y="225600"/>
            <a:ext cx="11874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Creación de Grupos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150" name="Google Shape;150;g3a4aea1636a_1_120"/>
          <p:cNvPicPr preferRelativeResize="0"/>
          <p:nvPr/>
        </p:nvPicPr>
        <p:blipFill rotWithShape="1">
          <a:blip r:embed="rId3">
            <a:alphaModFix/>
          </a:blip>
          <a:srcRect b="32745" l="0" r="0" t="0"/>
          <a:stretch/>
        </p:blipFill>
        <p:spPr>
          <a:xfrm>
            <a:off x="154125" y="1957125"/>
            <a:ext cx="17979751" cy="68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a4aea1636a_1_120"/>
          <p:cNvSpPr txBox="1"/>
          <p:nvPr/>
        </p:nvSpPr>
        <p:spPr>
          <a:xfrm>
            <a:off x="927425" y="1102900"/>
            <a:ext cx="1187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Grupos con cada usuario</a:t>
            </a:r>
            <a:endParaRPr sz="5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20"/>
            </a:stretch>
          </a:blipFill>
          <a:ln>
            <a:noFill/>
          </a:ln>
        </p:spPr>
      </p:sp>
      <p:grpSp>
        <p:nvGrpSpPr>
          <p:cNvPr id="157" name="Google Shape;157;p5"/>
          <p:cNvGrpSpPr/>
          <p:nvPr/>
        </p:nvGrpSpPr>
        <p:grpSpPr>
          <a:xfrm>
            <a:off x="3021356" y="1511600"/>
            <a:ext cx="12349919" cy="7948651"/>
            <a:chOff x="0" y="-76200"/>
            <a:chExt cx="3252653" cy="2093472"/>
          </a:xfrm>
        </p:grpSpPr>
        <p:sp>
          <p:nvSpPr>
            <p:cNvPr id="158" name="Google Shape;158;p5"/>
            <p:cNvSpPr/>
            <p:nvPr/>
          </p:nvSpPr>
          <p:spPr>
            <a:xfrm>
              <a:off x="0" y="0"/>
              <a:ext cx="3252653" cy="2017272"/>
            </a:xfrm>
            <a:custGeom>
              <a:rect b="b" l="l" r="r" t="t"/>
              <a:pathLst>
                <a:path extrusionOk="0" h="2017272" w="3252653">
                  <a:moveTo>
                    <a:pt x="0" y="0"/>
                  </a:moveTo>
                  <a:lnTo>
                    <a:pt x="3252653" y="0"/>
                  </a:lnTo>
                  <a:lnTo>
                    <a:pt x="3252653" y="2017272"/>
                  </a:lnTo>
                  <a:lnTo>
                    <a:pt x="0" y="2017272"/>
                  </a:lnTo>
                  <a:close/>
                </a:path>
              </a:pathLst>
            </a:custGeom>
            <a:gradFill>
              <a:gsLst>
                <a:gs pos="0">
                  <a:srgbClr val="03295A">
                    <a:alpha val="61960"/>
                  </a:srgbClr>
                </a:gs>
                <a:gs pos="100000">
                  <a:srgbClr val="041468">
                    <a:alpha val="74117"/>
                  </a:srgbClr>
                </a:gs>
              </a:gsLst>
              <a:lin ang="0" scaled="0"/>
            </a:gradFill>
            <a:ln cap="sq" cmpd="sng" w="38100">
              <a:solidFill>
                <a:srgbClr val="10A5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59" name="Google Shape;159;p5"/>
            <p:cNvSpPr txBox="1"/>
            <p:nvPr/>
          </p:nvSpPr>
          <p:spPr>
            <a:xfrm>
              <a:off x="0" y="-76200"/>
              <a:ext cx="3252653" cy="2093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5"/>
          <p:cNvSpPr txBox="1"/>
          <p:nvPr/>
        </p:nvSpPr>
        <p:spPr>
          <a:xfrm>
            <a:off x="3274605" y="2017080"/>
            <a:ext cx="11738700" cy="50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2">
                <a:solidFill>
                  <a:srgbClr val="FFFFFF"/>
                </a:solidFill>
              </a:rPr>
              <a:t>Estructura bajo /proyecto/:</a:t>
            </a:r>
            <a:endParaRPr sz="2662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/proyecto/datos/ → archivos de configuración (grupo: soporte)</a:t>
            </a:r>
            <a:endParaRPr sz="2662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/proyecto/web/ → archivos del sitio (grupo: web)</a:t>
            </a:r>
            <a:endParaRPr sz="2662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/proyecto/scripts/ → automatización</a:t>
            </a:r>
            <a:endParaRPr sz="2662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/proyecto/capturas/ → evidencias</a:t>
            </a:r>
            <a:endParaRPr sz="2662">
              <a:solidFill>
                <a:srgbClr val="FFFFFF"/>
              </a:solidFill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20179" y="7495026"/>
            <a:ext cx="2701177" cy="2406503"/>
          </a:xfrm>
          <a:custGeom>
            <a:rect b="b" l="l" r="r" t="t"/>
            <a:pathLst>
              <a:path extrusionOk="0" h="2406503" w="2701177">
                <a:moveTo>
                  <a:pt x="0" y="0"/>
                </a:moveTo>
                <a:lnTo>
                  <a:pt x="2701177" y="0"/>
                </a:lnTo>
                <a:lnTo>
                  <a:pt x="2701177" y="2406503"/>
                </a:lnTo>
                <a:lnTo>
                  <a:pt x="0" y="2406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5"/>
          <p:cNvSpPr/>
          <p:nvPr/>
        </p:nvSpPr>
        <p:spPr>
          <a:xfrm>
            <a:off x="14810128" y="472082"/>
            <a:ext cx="3038928" cy="2657681"/>
          </a:xfrm>
          <a:custGeom>
            <a:rect b="b" l="l" r="r" t="t"/>
            <a:pathLst>
              <a:path extrusionOk="0" h="2657681" w="3038928">
                <a:moveTo>
                  <a:pt x="0" y="0"/>
                </a:moveTo>
                <a:lnTo>
                  <a:pt x="3038928" y="0"/>
                </a:lnTo>
                <a:lnTo>
                  <a:pt x="3038928" y="2657680"/>
                </a:lnTo>
                <a:lnTo>
                  <a:pt x="0" y="2657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5"/>
          <p:cNvSpPr txBox="1"/>
          <p:nvPr/>
        </p:nvSpPr>
        <p:spPr>
          <a:xfrm>
            <a:off x="2715061" y="629581"/>
            <a:ext cx="128580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14">
                <a:solidFill>
                  <a:srgbClr val="FFFFFF"/>
                </a:solidFill>
              </a:rPr>
              <a:t>Estructura de directorios y permisos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168" name="Google Shape;168;g3a4aea1636a_1_126"/>
          <p:cNvPicPr preferRelativeResize="0"/>
          <p:nvPr/>
        </p:nvPicPr>
        <p:blipFill rotWithShape="1">
          <a:blip r:embed="rId3">
            <a:alphaModFix/>
          </a:blip>
          <a:srcRect b="28294" l="0" r="0" t="0"/>
          <a:stretch/>
        </p:blipFill>
        <p:spPr>
          <a:xfrm>
            <a:off x="154125" y="2182725"/>
            <a:ext cx="17979751" cy="7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a4aea1636a_1_126"/>
          <p:cNvSpPr txBox="1"/>
          <p:nvPr/>
        </p:nvSpPr>
        <p:spPr>
          <a:xfrm>
            <a:off x="877325" y="1102900"/>
            <a:ext cx="11874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de Directorios y Permisos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4aea1636a_1_7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19"/>
            </a:stretch>
          </a:blipFill>
          <a:ln>
            <a:noFill/>
          </a:ln>
        </p:spPr>
      </p:sp>
      <p:grpSp>
        <p:nvGrpSpPr>
          <p:cNvPr id="175" name="Google Shape;175;g3a4aea1636a_1_7"/>
          <p:cNvGrpSpPr/>
          <p:nvPr/>
        </p:nvGrpSpPr>
        <p:grpSpPr>
          <a:xfrm>
            <a:off x="3021356" y="1511598"/>
            <a:ext cx="12349998" cy="7948704"/>
            <a:chOff x="0" y="-76200"/>
            <a:chExt cx="3252653" cy="2093472"/>
          </a:xfrm>
        </p:grpSpPr>
        <p:sp>
          <p:nvSpPr>
            <p:cNvPr id="176" name="Google Shape;176;g3a4aea1636a_1_7"/>
            <p:cNvSpPr/>
            <p:nvPr/>
          </p:nvSpPr>
          <p:spPr>
            <a:xfrm>
              <a:off x="0" y="0"/>
              <a:ext cx="3252653" cy="2017272"/>
            </a:xfrm>
            <a:custGeom>
              <a:rect b="b" l="l" r="r" t="t"/>
              <a:pathLst>
                <a:path extrusionOk="0" h="2017272" w="3252653">
                  <a:moveTo>
                    <a:pt x="0" y="0"/>
                  </a:moveTo>
                  <a:lnTo>
                    <a:pt x="3252653" y="0"/>
                  </a:lnTo>
                  <a:lnTo>
                    <a:pt x="3252653" y="2017272"/>
                  </a:lnTo>
                  <a:lnTo>
                    <a:pt x="0" y="2017272"/>
                  </a:lnTo>
                  <a:close/>
                </a:path>
              </a:pathLst>
            </a:custGeom>
            <a:gradFill>
              <a:gsLst>
                <a:gs pos="0">
                  <a:srgbClr val="03295A">
                    <a:alpha val="61960"/>
                  </a:srgbClr>
                </a:gs>
                <a:gs pos="100000">
                  <a:srgbClr val="041468">
                    <a:alpha val="74117"/>
                  </a:srgbClr>
                </a:gs>
              </a:gsLst>
              <a:lin ang="0" scaled="0"/>
            </a:gradFill>
            <a:ln cap="sq" cmpd="sng" w="38100">
              <a:solidFill>
                <a:srgbClr val="10A5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77" name="Google Shape;177;g3a4aea1636a_1_7"/>
            <p:cNvSpPr txBox="1"/>
            <p:nvPr/>
          </p:nvSpPr>
          <p:spPr>
            <a:xfrm>
              <a:off x="0" y="-76200"/>
              <a:ext cx="3252600" cy="20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g3a4aea1636a_1_7"/>
          <p:cNvSpPr txBox="1"/>
          <p:nvPr/>
        </p:nvSpPr>
        <p:spPr>
          <a:xfrm>
            <a:off x="3274605" y="2017080"/>
            <a:ext cx="117387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Script reporte_sistema.sh genera: fecha/hora, host, usuarios, uso disco, RAM, contenedores Docker activos.</a:t>
            </a:r>
            <a:endParaRPr sz="2662">
              <a:solidFill>
                <a:srgbClr val="FFFFFF"/>
              </a:solidFill>
            </a:endParaRPr>
          </a:p>
          <a:p>
            <a:pPr indent="0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Cron ejecuta el script cada 30 minutos; logs en /proyecto/logs/.</a:t>
            </a:r>
            <a:endParaRPr sz="2662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</p:txBody>
      </p:sp>
      <p:sp>
        <p:nvSpPr>
          <p:cNvPr id="179" name="Google Shape;179;g3a4aea1636a_1_7"/>
          <p:cNvSpPr/>
          <p:nvPr/>
        </p:nvSpPr>
        <p:spPr>
          <a:xfrm>
            <a:off x="320179" y="7495026"/>
            <a:ext cx="2701177" cy="2406503"/>
          </a:xfrm>
          <a:custGeom>
            <a:rect b="b" l="l" r="r" t="t"/>
            <a:pathLst>
              <a:path extrusionOk="0" h="2406503" w="2701177">
                <a:moveTo>
                  <a:pt x="0" y="0"/>
                </a:moveTo>
                <a:lnTo>
                  <a:pt x="2701177" y="0"/>
                </a:lnTo>
                <a:lnTo>
                  <a:pt x="2701177" y="2406503"/>
                </a:lnTo>
                <a:lnTo>
                  <a:pt x="0" y="2406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g3a4aea1636a_1_7"/>
          <p:cNvSpPr/>
          <p:nvPr/>
        </p:nvSpPr>
        <p:spPr>
          <a:xfrm>
            <a:off x="14810128" y="472082"/>
            <a:ext cx="3038928" cy="2657681"/>
          </a:xfrm>
          <a:custGeom>
            <a:rect b="b" l="l" r="r" t="t"/>
            <a:pathLst>
              <a:path extrusionOk="0" h="2657681" w="3038928">
                <a:moveTo>
                  <a:pt x="0" y="0"/>
                </a:moveTo>
                <a:lnTo>
                  <a:pt x="3038928" y="0"/>
                </a:lnTo>
                <a:lnTo>
                  <a:pt x="3038928" y="2657680"/>
                </a:lnTo>
                <a:lnTo>
                  <a:pt x="0" y="2657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g3a4aea1636a_1_7"/>
          <p:cNvSpPr txBox="1"/>
          <p:nvPr/>
        </p:nvSpPr>
        <p:spPr>
          <a:xfrm>
            <a:off x="2715061" y="629581"/>
            <a:ext cx="128580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14">
                <a:solidFill>
                  <a:srgbClr val="FFFFFF"/>
                </a:solidFill>
              </a:rPr>
              <a:t>Automatización y monitoreo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186" name="Google Shape;186;g3a4aea1636a_1_132"/>
          <p:cNvPicPr preferRelativeResize="0"/>
          <p:nvPr/>
        </p:nvPicPr>
        <p:blipFill rotWithShape="1">
          <a:blip r:embed="rId3">
            <a:alphaModFix/>
          </a:blip>
          <a:srcRect b="67668" l="0" r="29799" t="0"/>
          <a:stretch/>
        </p:blipFill>
        <p:spPr>
          <a:xfrm>
            <a:off x="175450" y="1480875"/>
            <a:ext cx="8443450" cy="219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o&#10;&#10;El contenido generado por IA puede ser incorrecto." id="187" name="Google Shape;187;g3a4aea1636a_1_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7138" y="3873325"/>
            <a:ext cx="10570874" cy="595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a4aea1636a_1_132"/>
          <p:cNvSpPr txBox="1"/>
          <p:nvPr/>
        </p:nvSpPr>
        <p:spPr>
          <a:xfrm>
            <a:off x="175450" y="603250"/>
            <a:ext cx="11874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Creación de Script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a4aea1636a_1_132"/>
          <p:cNvSpPr txBox="1"/>
          <p:nvPr/>
        </p:nvSpPr>
        <p:spPr>
          <a:xfrm>
            <a:off x="10026300" y="3180625"/>
            <a:ext cx="8021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 de _sistema.sh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194" name="Google Shape;194;g3a4aea1636a_1_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025" y="1271525"/>
            <a:ext cx="14961550" cy="84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a4aea1636a_1_144"/>
          <p:cNvSpPr txBox="1"/>
          <p:nvPr/>
        </p:nvSpPr>
        <p:spPr>
          <a:xfrm>
            <a:off x="880025" y="350925"/>
            <a:ext cx="12808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Automatización con Cron |Creando el directorio de log</a:t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200" name="Google Shape;200;g3a4aea1636a_1_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512" y="675025"/>
            <a:ext cx="15854974" cy="89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4aea1636a_1_18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19"/>
            </a:stretch>
          </a:blipFill>
          <a:ln>
            <a:noFill/>
          </a:ln>
        </p:spPr>
      </p:sp>
      <p:grpSp>
        <p:nvGrpSpPr>
          <p:cNvPr id="206" name="Google Shape;206;g3a4aea1636a_1_18"/>
          <p:cNvGrpSpPr/>
          <p:nvPr/>
        </p:nvGrpSpPr>
        <p:grpSpPr>
          <a:xfrm>
            <a:off x="3021356" y="1511598"/>
            <a:ext cx="12349998" cy="7948704"/>
            <a:chOff x="0" y="-76200"/>
            <a:chExt cx="3252653" cy="2093472"/>
          </a:xfrm>
        </p:grpSpPr>
        <p:sp>
          <p:nvSpPr>
            <p:cNvPr id="207" name="Google Shape;207;g3a4aea1636a_1_18"/>
            <p:cNvSpPr/>
            <p:nvPr/>
          </p:nvSpPr>
          <p:spPr>
            <a:xfrm>
              <a:off x="0" y="0"/>
              <a:ext cx="3252653" cy="2017272"/>
            </a:xfrm>
            <a:custGeom>
              <a:rect b="b" l="l" r="r" t="t"/>
              <a:pathLst>
                <a:path extrusionOk="0" h="2017272" w="3252653">
                  <a:moveTo>
                    <a:pt x="0" y="0"/>
                  </a:moveTo>
                  <a:lnTo>
                    <a:pt x="3252653" y="0"/>
                  </a:lnTo>
                  <a:lnTo>
                    <a:pt x="3252653" y="2017272"/>
                  </a:lnTo>
                  <a:lnTo>
                    <a:pt x="0" y="2017272"/>
                  </a:lnTo>
                  <a:close/>
                </a:path>
              </a:pathLst>
            </a:custGeom>
            <a:gradFill>
              <a:gsLst>
                <a:gs pos="0">
                  <a:srgbClr val="03295A">
                    <a:alpha val="61960"/>
                  </a:srgbClr>
                </a:gs>
                <a:gs pos="100000">
                  <a:srgbClr val="041468">
                    <a:alpha val="74117"/>
                  </a:srgbClr>
                </a:gs>
              </a:gsLst>
              <a:lin ang="0" scaled="0"/>
            </a:gradFill>
            <a:ln cap="sq" cmpd="sng" w="38100">
              <a:solidFill>
                <a:srgbClr val="10A5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08" name="Google Shape;208;g3a4aea1636a_1_18"/>
            <p:cNvSpPr txBox="1"/>
            <p:nvPr/>
          </p:nvSpPr>
          <p:spPr>
            <a:xfrm>
              <a:off x="0" y="-76200"/>
              <a:ext cx="3252600" cy="20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g3a4aea1636a_1_18"/>
          <p:cNvSpPr txBox="1"/>
          <p:nvPr/>
        </p:nvSpPr>
        <p:spPr>
          <a:xfrm>
            <a:off x="3274605" y="2017080"/>
            <a:ext cx="117387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Inicializar repo en /proyecto/, primer commit.</a:t>
            </a:r>
            <a:endParaRPr sz="2662">
              <a:solidFill>
                <a:srgbClr val="FFFFFF"/>
              </a:solidFill>
            </a:endParaRPr>
          </a:p>
          <a:p>
            <a:pPr indent="0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Remote en GitHub: proyecto-linux-grupo11.</a:t>
            </a:r>
            <a:endParaRPr sz="2662">
              <a:solidFill>
                <a:srgbClr val="FFFFFF"/>
              </a:solidFill>
            </a:endParaRPr>
          </a:p>
          <a:p>
            <a:pPr indent="0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README.md con instrucciones de instalación y uso.</a:t>
            </a:r>
            <a:endParaRPr sz="2662">
              <a:solidFill>
                <a:srgbClr val="FFFFFF"/>
              </a:solidFill>
            </a:endParaRPr>
          </a:p>
        </p:txBody>
      </p:sp>
      <p:sp>
        <p:nvSpPr>
          <p:cNvPr id="210" name="Google Shape;210;g3a4aea1636a_1_18"/>
          <p:cNvSpPr/>
          <p:nvPr/>
        </p:nvSpPr>
        <p:spPr>
          <a:xfrm>
            <a:off x="320179" y="7495026"/>
            <a:ext cx="2701177" cy="2406503"/>
          </a:xfrm>
          <a:custGeom>
            <a:rect b="b" l="l" r="r" t="t"/>
            <a:pathLst>
              <a:path extrusionOk="0" h="2406503" w="2701177">
                <a:moveTo>
                  <a:pt x="0" y="0"/>
                </a:moveTo>
                <a:lnTo>
                  <a:pt x="2701177" y="0"/>
                </a:lnTo>
                <a:lnTo>
                  <a:pt x="2701177" y="2406503"/>
                </a:lnTo>
                <a:lnTo>
                  <a:pt x="0" y="2406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g3a4aea1636a_1_18"/>
          <p:cNvSpPr/>
          <p:nvPr/>
        </p:nvSpPr>
        <p:spPr>
          <a:xfrm>
            <a:off x="14810128" y="472082"/>
            <a:ext cx="3038928" cy="2657681"/>
          </a:xfrm>
          <a:custGeom>
            <a:rect b="b" l="l" r="r" t="t"/>
            <a:pathLst>
              <a:path extrusionOk="0" h="2657681" w="3038928">
                <a:moveTo>
                  <a:pt x="0" y="0"/>
                </a:moveTo>
                <a:lnTo>
                  <a:pt x="3038928" y="0"/>
                </a:lnTo>
                <a:lnTo>
                  <a:pt x="3038928" y="2657680"/>
                </a:lnTo>
                <a:lnTo>
                  <a:pt x="0" y="2657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g3a4aea1636a_1_18"/>
          <p:cNvSpPr txBox="1"/>
          <p:nvPr/>
        </p:nvSpPr>
        <p:spPr>
          <a:xfrm>
            <a:off x="2715061" y="629581"/>
            <a:ext cx="128580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14">
                <a:solidFill>
                  <a:srgbClr val="FFFFFF"/>
                </a:solidFill>
              </a:rPr>
              <a:t>Control de versiones (Git)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217" name="Google Shape;217;g3a4aea1636a_1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900" y="1467975"/>
            <a:ext cx="15112200" cy="851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a4aea1636a_1_155"/>
          <p:cNvSpPr txBox="1"/>
          <p:nvPr/>
        </p:nvSpPr>
        <p:spPr>
          <a:xfrm>
            <a:off x="2531625" y="590350"/>
            <a:ext cx="1427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223" name="Google Shape;223;g3a4aea1636a_1_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225" y="519863"/>
            <a:ext cx="16405550" cy="924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228" name="Google Shape;228;g3a4aea1636a_1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713" y="1430800"/>
            <a:ext cx="13936575" cy="7855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a4aea1636a_1_166"/>
          <p:cNvSpPr txBox="1"/>
          <p:nvPr/>
        </p:nvSpPr>
        <p:spPr>
          <a:xfrm>
            <a:off x="2175725" y="551475"/>
            <a:ext cx="1427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Subida al repositorio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4aea1636a_1_192"/>
          <p:cNvSpPr txBox="1"/>
          <p:nvPr/>
        </p:nvSpPr>
        <p:spPr>
          <a:xfrm>
            <a:off x="1829800" y="783450"/>
            <a:ext cx="142779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Verificación del cron</a:t>
            </a:r>
            <a:endParaRPr sz="23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Estado del repositorio Git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o&#10;&#10;El contenido generado por IA puede ser incorrecto." id="235" name="Google Shape;235;g3a4aea1636a_1_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9800" y="1806750"/>
            <a:ext cx="14277900" cy="8047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240" name="Google Shape;240;g3a4aea1636a_1_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122" y="76200"/>
            <a:ext cx="17979757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245" name="Google Shape;245;g3a4aea1636a_1_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122" y="76200"/>
            <a:ext cx="17979757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a captura de pantalla de una red social&#10;&#10;El contenido generado por IA puede ser incorrecto." id="250" name="Google Shape;250;g3a4aea1636a_1_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355578"/>
            <a:ext cx="18135600" cy="957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4aea1636a_1_29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19"/>
            </a:stretch>
          </a:blipFill>
          <a:ln>
            <a:noFill/>
          </a:ln>
        </p:spPr>
      </p:sp>
      <p:grpSp>
        <p:nvGrpSpPr>
          <p:cNvPr id="256" name="Google Shape;256;g3a4aea1636a_1_29"/>
          <p:cNvGrpSpPr/>
          <p:nvPr/>
        </p:nvGrpSpPr>
        <p:grpSpPr>
          <a:xfrm>
            <a:off x="3021356" y="1511598"/>
            <a:ext cx="12349998" cy="7948704"/>
            <a:chOff x="0" y="-76200"/>
            <a:chExt cx="3252653" cy="2093472"/>
          </a:xfrm>
        </p:grpSpPr>
        <p:sp>
          <p:nvSpPr>
            <p:cNvPr id="257" name="Google Shape;257;g3a4aea1636a_1_29"/>
            <p:cNvSpPr/>
            <p:nvPr/>
          </p:nvSpPr>
          <p:spPr>
            <a:xfrm>
              <a:off x="0" y="0"/>
              <a:ext cx="3252653" cy="2017272"/>
            </a:xfrm>
            <a:custGeom>
              <a:rect b="b" l="l" r="r" t="t"/>
              <a:pathLst>
                <a:path extrusionOk="0" h="2017272" w="3252653">
                  <a:moveTo>
                    <a:pt x="0" y="0"/>
                  </a:moveTo>
                  <a:lnTo>
                    <a:pt x="3252653" y="0"/>
                  </a:lnTo>
                  <a:lnTo>
                    <a:pt x="3252653" y="2017272"/>
                  </a:lnTo>
                  <a:lnTo>
                    <a:pt x="0" y="2017272"/>
                  </a:lnTo>
                  <a:close/>
                </a:path>
              </a:pathLst>
            </a:custGeom>
            <a:gradFill>
              <a:gsLst>
                <a:gs pos="0">
                  <a:srgbClr val="03295A">
                    <a:alpha val="61960"/>
                  </a:srgbClr>
                </a:gs>
                <a:gs pos="100000">
                  <a:srgbClr val="041468">
                    <a:alpha val="74117"/>
                  </a:srgbClr>
                </a:gs>
              </a:gsLst>
              <a:lin ang="0" scaled="0"/>
            </a:gradFill>
            <a:ln cap="sq" cmpd="sng" w="38100">
              <a:solidFill>
                <a:srgbClr val="10A5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58" name="Google Shape;258;g3a4aea1636a_1_29"/>
            <p:cNvSpPr txBox="1"/>
            <p:nvPr/>
          </p:nvSpPr>
          <p:spPr>
            <a:xfrm>
              <a:off x="0" y="-76200"/>
              <a:ext cx="3252600" cy="20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g3a4aea1636a_1_29"/>
          <p:cNvSpPr txBox="1"/>
          <p:nvPr/>
        </p:nvSpPr>
        <p:spPr>
          <a:xfrm>
            <a:off x="3274605" y="2017080"/>
            <a:ext cx="117387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Docker instalado, servicio habilitado.</a:t>
            </a:r>
            <a:endParaRPr sz="2662">
              <a:solidFill>
                <a:srgbClr val="FFFFFF"/>
              </a:solidFill>
            </a:endParaRPr>
          </a:p>
          <a:p>
            <a:pPr indent="0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Usuarios adminsys y tecnico añadidos al grupo docker.</a:t>
            </a:r>
            <a:endParaRPr sz="2662">
              <a:solidFill>
                <a:srgbClr val="FFFFFF"/>
              </a:solidFill>
            </a:endParaRPr>
          </a:p>
          <a:p>
            <a:pPr indent="0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Ejecutado hello-world como verificación.</a:t>
            </a:r>
            <a:endParaRPr sz="2662">
              <a:solidFill>
                <a:srgbClr val="FFFFFF"/>
              </a:solidFill>
            </a:endParaRPr>
          </a:p>
        </p:txBody>
      </p:sp>
      <p:sp>
        <p:nvSpPr>
          <p:cNvPr id="260" name="Google Shape;260;g3a4aea1636a_1_29"/>
          <p:cNvSpPr/>
          <p:nvPr/>
        </p:nvSpPr>
        <p:spPr>
          <a:xfrm>
            <a:off x="320179" y="7495026"/>
            <a:ext cx="2701177" cy="2406503"/>
          </a:xfrm>
          <a:custGeom>
            <a:rect b="b" l="l" r="r" t="t"/>
            <a:pathLst>
              <a:path extrusionOk="0" h="2406503" w="2701177">
                <a:moveTo>
                  <a:pt x="0" y="0"/>
                </a:moveTo>
                <a:lnTo>
                  <a:pt x="2701177" y="0"/>
                </a:lnTo>
                <a:lnTo>
                  <a:pt x="2701177" y="2406503"/>
                </a:lnTo>
                <a:lnTo>
                  <a:pt x="0" y="2406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g3a4aea1636a_1_29"/>
          <p:cNvSpPr/>
          <p:nvPr/>
        </p:nvSpPr>
        <p:spPr>
          <a:xfrm>
            <a:off x="14810128" y="472082"/>
            <a:ext cx="3038928" cy="2657681"/>
          </a:xfrm>
          <a:custGeom>
            <a:rect b="b" l="l" r="r" t="t"/>
            <a:pathLst>
              <a:path extrusionOk="0" h="2657681" w="3038928">
                <a:moveTo>
                  <a:pt x="0" y="0"/>
                </a:moveTo>
                <a:lnTo>
                  <a:pt x="3038928" y="0"/>
                </a:lnTo>
                <a:lnTo>
                  <a:pt x="3038928" y="2657680"/>
                </a:lnTo>
                <a:lnTo>
                  <a:pt x="0" y="2657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g3a4aea1636a_1_29"/>
          <p:cNvSpPr txBox="1"/>
          <p:nvPr/>
        </p:nvSpPr>
        <p:spPr>
          <a:xfrm>
            <a:off x="2715061" y="629581"/>
            <a:ext cx="12858000" cy="8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14">
                <a:solidFill>
                  <a:srgbClr val="FFFFFF"/>
                </a:solidFill>
              </a:rPr>
              <a:t>Docker: instalación y verificación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267" name="Google Shape;267;g3a4aea1636a_1_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6650" y="1506950"/>
            <a:ext cx="15114700" cy="85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a4aea1636a_1_174"/>
          <p:cNvSpPr txBox="1"/>
          <p:nvPr/>
        </p:nvSpPr>
        <p:spPr>
          <a:xfrm>
            <a:off x="1586650" y="626675"/>
            <a:ext cx="14277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DOCKER 4.1 Instalación y Configuración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&#10;&#10;El contenido generado por IA puede ser incorrecto." id="273" name="Google Shape;273;g3a4aea1636a_1_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049" y="1307577"/>
            <a:ext cx="14277900" cy="804797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a4aea1636a_1_180"/>
          <p:cNvSpPr txBox="1"/>
          <p:nvPr/>
        </p:nvSpPr>
        <p:spPr>
          <a:xfrm>
            <a:off x="2255925" y="551450"/>
            <a:ext cx="14277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Listar los contenedores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4aea1636a_1_40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19"/>
            </a:stretch>
          </a:blipFill>
          <a:ln>
            <a:noFill/>
          </a:ln>
        </p:spPr>
      </p:sp>
      <p:grpSp>
        <p:nvGrpSpPr>
          <p:cNvPr id="280" name="Google Shape;280;g3a4aea1636a_1_40"/>
          <p:cNvGrpSpPr/>
          <p:nvPr/>
        </p:nvGrpSpPr>
        <p:grpSpPr>
          <a:xfrm>
            <a:off x="3021356" y="1511598"/>
            <a:ext cx="12349998" cy="7948704"/>
            <a:chOff x="0" y="-76200"/>
            <a:chExt cx="3252653" cy="2093472"/>
          </a:xfrm>
        </p:grpSpPr>
        <p:sp>
          <p:nvSpPr>
            <p:cNvPr id="281" name="Google Shape;281;g3a4aea1636a_1_40"/>
            <p:cNvSpPr/>
            <p:nvPr/>
          </p:nvSpPr>
          <p:spPr>
            <a:xfrm>
              <a:off x="0" y="0"/>
              <a:ext cx="3252653" cy="2017272"/>
            </a:xfrm>
            <a:custGeom>
              <a:rect b="b" l="l" r="r" t="t"/>
              <a:pathLst>
                <a:path extrusionOk="0" h="2017272" w="3252653">
                  <a:moveTo>
                    <a:pt x="0" y="0"/>
                  </a:moveTo>
                  <a:lnTo>
                    <a:pt x="3252653" y="0"/>
                  </a:lnTo>
                  <a:lnTo>
                    <a:pt x="3252653" y="2017272"/>
                  </a:lnTo>
                  <a:lnTo>
                    <a:pt x="0" y="2017272"/>
                  </a:lnTo>
                  <a:close/>
                </a:path>
              </a:pathLst>
            </a:custGeom>
            <a:gradFill>
              <a:gsLst>
                <a:gs pos="0">
                  <a:srgbClr val="03295A">
                    <a:alpha val="61960"/>
                  </a:srgbClr>
                </a:gs>
                <a:gs pos="100000">
                  <a:srgbClr val="041468">
                    <a:alpha val="74117"/>
                  </a:srgbClr>
                </a:gs>
              </a:gsLst>
              <a:lin ang="0" scaled="0"/>
            </a:gradFill>
            <a:ln cap="sq" cmpd="sng" w="38100">
              <a:solidFill>
                <a:srgbClr val="10A5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82" name="Google Shape;282;g3a4aea1636a_1_40"/>
            <p:cNvSpPr txBox="1"/>
            <p:nvPr/>
          </p:nvSpPr>
          <p:spPr>
            <a:xfrm>
              <a:off x="0" y="-76200"/>
              <a:ext cx="3252600" cy="20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g3a4aea1636a_1_40"/>
          <p:cNvSpPr txBox="1"/>
          <p:nvPr/>
        </p:nvSpPr>
        <p:spPr>
          <a:xfrm>
            <a:off x="3274605" y="2017080"/>
            <a:ext cx="11738700" cy="3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Imagen: nginx (oficial) o personalizada vía Dockerfile.</a:t>
            </a:r>
            <a:endParaRPr sz="2662">
              <a:solidFill>
                <a:srgbClr val="FFFFFF"/>
              </a:solidFill>
            </a:endParaRPr>
          </a:p>
          <a:p>
            <a:pPr indent="0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docker run -d -p 8080:80 -v /proyecto/web:/usr/share/nginx/html --name web_nginx nginx</a:t>
            </a:r>
            <a:endParaRPr sz="2662">
              <a:solidFill>
                <a:srgbClr val="FFFFFF"/>
              </a:solidFill>
            </a:endParaRPr>
          </a:p>
          <a:p>
            <a:pPr indent="0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Verificación: acceso a http://&lt;host&gt;:8080 y revisión de logs docker logs web_nginx.</a:t>
            </a:r>
            <a:endParaRPr sz="2662">
              <a:solidFill>
                <a:srgbClr val="FFFFFF"/>
              </a:solidFill>
            </a:endParaRPr>
          </a:p>
        </p:txBody>
      </p:sp>
      <p:sp>
        <p:nvSpPr>
          <p:cNvPr id="284" name="Google Shape;284;g3a4aea1636a_1_40"/>
          <p:cNvSpPr/>
          <p:nvPr/>
        </p:nvSpPr>
        <p:spPr>
          <a:xfrm>
            <a:off x="320179" y="7495026"/>
            <a:ext cx="2701177" cy="2406503"/>
          </a:xfrm>
          <a:custGeom>
            <a:rect b="b" l="l" r="r" t="t"/>
            <a:pathLst>
              <a:path extrusionOk="0" h="2406503" w="2701177">
                <a:moveTo>
                  <a:pt x="0" y="0"/>
                </a:moveTo>
                <a:lnTo>
                  <a:pt x="2701177" y="0"/>
                </a:lnTo>
                <a:lnTo>
                  <a:pt x="2701177" y="2406503"/>
                </a:lnTo>
                <a:lnTo>
                  <a:pt x="0" y="2406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g3a4aea1636a_1_40"/>
          <p:cNvSpPr/>
          <p:nvPr/>
        </p:nvSpPr>
        <p:spPr>
          <a:xfrm>
            <a:off x="14810128" y="472082"/>
            <a:ext cx="3038928" cy="2657681"/>
          </a:xfrm>
          <a:custGeom>
            <a:rect b="b" l="l" r="r" t="t"/>
            <a:pathLst>
              <a:path extrusionOk="0" h="2657681" w="3038928">
                <a:moveTo>
                  <a:pt x="0" y="0"/>
                </a:moveTo>
                <a:lnTo>
                  <a:pt x="3038928" y="0"/>
                </a:lnTo>
                <a:lnTo>
                  <a:pt x="3038928" y="2657680"/>
                </a:lnTo>
                <a:lnTo>
                  <a:pt x="0" y="2657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g3a4aea1636a_1_40"/>
          <p:cNvSpPr txBox="1"/>
          <p:nvPr/>
        </p:nvSpPr>
        <p:spPr>
          <a:xfrm>
            <a:off x="1278199" y="629575"/>
            <a:ext cx="142950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14">
                <a:solidFill>
                  <a:srgbClr val="FFFFFF"/>
                </a:solidFill>
              </a:rPr>
              <a:t>Despliegue web con Nginx (containerizado)</a:t>
            </a:r>
            <a:endParaRPr sz="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4aea1636a_1_213"/>
          <p:cNvSpPr txBox="1"/>
          <p:nvPr/>
        </p:nvSpPr>
        <p:spPr>
          <a:xfrm>
            <a:off x="927225" y="250675"/>
            <a:ext cx="1427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Corriendo el contenedor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o&#10;&#10;El contenido generado por IA puede ser incorrecto." id="292" name="Google Shape;292;g3a4aea1636a_1_2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213" y="955175"/>
            <a:ext cx="16433576" cy="9263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, Correo electrónico&#10;&#10;El contenido generado por IA puede ser incorrecto." id="297" name="Google Shape;297;g3a4aea1636a_1_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355578"/>
            <a:ext cx="18135600" cy="957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4aea1636a_1_233"/>
          <p:cNvSpPr txBox="1"/>
          <p:nvPr/>
        </p:nvSpPr>
        <p:spPr>
          <a:xfrm>
            <a:off x="1303450" y="350925"/>
            <a:ext cx="1427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Logs del contenedor</a:t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xto&#10;&#10;El contenido generado por IA puede ser incorrecto." id="303" name="Google Shape;303;g3a4aea1636a_1_2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350" y="1024500"/>
            <a:ext cx="15929300" cy="897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308" name="Google Shape;308;g3a4aea1636a_1_2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122" y="76200"/>
            <a:ext cx="17979757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313" name="Google Shape;313;g3a4aea1636a_1_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050" y="1221100"/>
            <a:ext cx="16867701" cy="89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a4aea1636a_1_227"/>
          <p:cNvSpPr txBox="1"/>
          <p:nvPr/>
        </p:nvSpPr>
        <p:spPr>
          <a:xfrm>
            <a:off x="601575" y="526375"/>
            <a:ext cx="11326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Verificación de la </a:t>
            </a:r>
            <a:r>
              <a:rPr lang="en-US" sz="25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página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4aea1636a_1_51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19"/>
            </a:stretch>
          </a:blipFill>
          <a:ln>
            <a:noFill/>
          </a:ln>
        </p:spPr>
      </p:sp>
      <p:grpSp>
        <p:nvGrpSpPr>
          <p:cNvPr id="320" name="Google Shape;320;g3a4aea1636a_1_51"/>
          <p:cNvGrpSpPr/>
          <p:nvPr/>
        </p:nvGrpSpPr>
        <p:grpSpPr>
          <a:xfrm>
            <a:off x="3021356" y="1511598"/>
            <a:ext cx="12349998" cy="7948704"/>
            <a:chOff x="0" y="-76200"/>
            <a:chExt cx="3252653" cy="2093472"/>
          </a:xfrm>
        </p:grpSpPr>
        <p:sp>
          <p:nvSpPr>
            <p:cNvPr id="321" name="Google Shape;321;g3a4aea1636a_1_51"/>
            <p:cNvSpPr/>
            <p:nvPr/>
          </p:nvSpPr>
          <p:spPr>
            <a:xfrm>
              <a:off x="0" y="0"/>
              <a:ext cx="3252653" cy="2017272"/>
            </a:xfrm>
            <a:custGeom>
              <a:rect b="b" l="l" r="r" t="t"/>
              <a:pathLst>
                <a:path extrusionOk="0" h="2017272" w="3252653">
                  <a:moveTo>
                    <a:pt x="0" y="0"/>
                  </a:moveTo>
                  <a:lnTo>
                    <a:pt x="3252653" y="0"/>
                  </a:lnTo>
                  <a:lnTo>
                    <a:pt x="3252653" y="2017272"/>
                  </a:lnTo>
                  <a:lnTo>
                    <a:pt x="0" y="2017272"/>
                  </a:lnTo>
                  <a:close/>
                </a:path>
              </a:pathLst>
            </a:custGeom>
            <a:gradFill>
              <a:gsLst>
                <a:gs pos="0">
                  <a:srgbClr val="03295A">
                    <a:alpha val="61960"/>
                  </a:srgbClr>
                </a:gs>
                <a:gs pos="100000">
                  <a:srgbClr val="041468">
                    <a:alpha val="74117"/>
                  </a:srgbClr>
                </a:gs>
              </a:gsLst>
              <a:lin ang="0" scaled="0"/>
            </a:gradFill>
            <a:ln cap="sq" cmpd="sng" w="38100">
              <a:solidFill>
                <a:srgbClr val="10A5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22" name="Google Shape;322;g3a4aea1636a_1_51"/>
            <p:cNvSpPr txBox="1"/>
            <p:nvPr/>
          </p:nvSpPr>
          <p:spPr>
            <a:xfrm>
              <a:off x="0" y="-76200"/>
              <a:ext cx="3252600" cy="20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g3a4aea1636a_1_51"/>
          <p:cNvSpPr txBox="1"/>
          <p:nvPr/>
        </p:nvSpPr>
        <p:spPr>
          <a:xfrm>
            <a:off x="3274605" y="2017080"/>
            <a:ext cx="11738700" cy="21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Capturas de: estructura de directorios, permisos, script, cron, logs, contenedores, vista en navegador.</a:t>
            </a:r>
            <a:endParaRPr sz="2662">
              <a:solidFill>
                <a:srgbClr val="FFFFFF"/>
              </a:solidFill>
            </a:endParaRPr>
          </a:p>
          <a:p>
            <a:pPr indent="0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Estado: Entorno funcional, automatizado y versionado.</a:t>
            </a:r>
            <a:endParaRPr sz="2662">
              <a:solidFill>
                <a:srgbClr val="FFFFFF"/>
              </a:solidFill>
            </a:endParaRPr>
          </a:p>
        </p:txBody>
      </p:sp>
      <p:sp>
        <p:nvSpPr>
          <p:cNvPr id="324" name="Google Shape;324;g3a4aea1636a_1_51"/>
          <p:cNvSpPr/>
          <p:nvPr/>
        </p:nvSpPr>
        <p:spPr>
          <a:xfrm>
            <a:off x="320179" y="7495026"/>
            <a:ext cx="2701177" cy="2406503"/>
          </a:xfrm>
          <a:custGeom>
            <a:rect b="b" l="l" r="r" t="t"/>
            <a:pathLst>
              <a:path extrusionOk="0" h="2406503" w="2701177">
                <a:moveTo>
                  <a:pt x="0" y="0"/>
                </a:moveTo>
                <a:lnTo>
                  <a:pt x="2701177" y="0"/>
                </a:lnTo>
                <a:lnTo>
                  <a:pt x="2701177" y="2406503"/>
                </a:lnTo>
                <a:lnTo>
                  <a:pt x="0" y="2406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5" name="Google Shape;325;g3a4aea1636a_1_51"/>
          <p:cNvSpPr/>
          <p:nvPr/>
        </p:nvSpPr>
        <p:spPr>
          <a:xfrm>
            <a:off x="14810128" y="472082"/>
            <a:ext cx="3038928" cy="2657681"/>
          </a:xfrm>
          <a:custGeom>
            <a:rect b="b" l="l" r="r" t="t"/>
            <a:pathLst>
              <a:path extrusionOk="0" h="2657681" w="3038928">
                <a:moveTo>
                  <a:pt x="0" y="0"/>
                </a:moveTo>
                <a:lnTo>
                  <a:pt x="3038928" y="0"/>
                </a:lnTo>
                <a:lnTo>
                  <a:pt x="3038928" y="2657680"/>
                </a:lnTo>
                <a:lnTo>
                  <a:pt x="0" y="2657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g3a4aea1636a_1_51"/>
          <p:cNvSpPr txBox="1"/>
          <p:nvPr/>
        </p:nvSpPr>
        <p:spPr>
          <a:xfrm>
            <a:off x="1278199" y="629575"/>
            <a:ext cx="142950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14">
                <a:solidFill>
                  <a:srgbClr val="FFFFFF"/>
                </a:solidFill>
              </a:rPr>
              <a:t>Evidencias y resultados</a:t>
            </a:r>
            <a:endParaRPr sz="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4aea1636a_1_62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19" l="0" r="0" t="-9219"/>
            </a:stretch>
          </a:blipFill>
          <a:ln>
            <a:noFill/>
          </a:ln>
        </p:spPr>
      </p:sp>
      <p:grpSp>
        <p:nvGrpSpPr>
          <p:cNvPr id="332" name="Google Shape;332;g3a4aea1636a_1_62"/>
          <p:cNvGrpSpPr/>
          <p:nvPr/>
        </p:nvGrpSpPr>
        <p:grpSpPr>
          <a:xfrm>
            <a:off x="3021356" y="1511598"/>
            <a:ext cx="12349998" cy="7948704"/>
            <a:chOff x="0" y="-76200"/>
            <a:chExt cx="3252653" cy="2093472"/>
          </a:xfrm>
        </p:grpSpPr>
        <p:sp>
          <p:nvSpPr>
            <p:cNvPr id="333" name="Google Shape;333;g3a4aea1636a_1_62"/>
            <p:cNvSpPr/>
            <p:nvPr/>
          </p:nvSpPr>
          <p:spPr>
            <a:xfrm>
              <a:off x="0" y="0"/>
              <a:ext cx="3252653" cy="2017272"/>
            </a:xfrm>
            <a:custGeom>
              <a:rect b="b" l="l" r="r" t="t"/>
              <a:pathLst>
                <a:path extrusionOk="0" h="2017272" w="3252653">
                  <a:moveTo>
                    <a:pt x="0" y="0"/>
                  </a:moveTo>
                  <a:lnTo>
                    <a:pt x="3252653" y="0"/>
                  </a:lnTo>
                  <a:lnTo>
                    <a:pt x="3252653" y="2017272"/>
                  </a:lnTo>
                  <a:lnTo>
                    <a:pt x="0" y="2017272"/>
                  </a:lnTo>
                  <a:close/>
                </a:path>
              </a:pathLst>
            </a:custGeom>
            <a:gradFill>
              <a:gsLst>
                <a:gs pos="0">
                  <a:srgbClr val="03295A">
                    <a:alpha val="61960"/>
                  </a:srgbClr>
                </a:gs>
                <a:gs pos="100000">
                  <a:srgbClr val="041468">
                    <a:alpha val="74117"/>
                  </a:srgbClr>
                </a:gs>
              </a:gsLst>
              <a:lin ang="0" scaled="0"/>
            </a:gradFill>
            <a:ln cap="sq" cmpd="sng" w="38100">
              <a:solidFill>
                <a:srgbClr val="10A5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4" name="Google Shape;334;g3a4aea1636a_1_62"/>
            <p:cNvSpPr txBox="1"/>
            <p:nvPr/>
          </p:nvSpPr>
          <p:spPr>
            <a:xfrm>
              <a:off x="0" y="-76200"/>
              <a:ext cx="3252600" cy="20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g3a4aea1636a_1_62"/>
          <p:cNvSpPr txBox="1"/>
          <p:nvPr/>
        </p:nvSpPr>
        <p:spPr>
          <a:xfrm>
            <a:off x="3274605" y="2017080"/>
            <a:ext cx="11738700" cy="3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Aplicación práctica de Linux, Docker y Git.</a:t>
            </a:r>
            <a:endParaRPr sz="2662">
              <a:solidFill>
                <a:srgbClr val="FFFFFF"/>
              </a:solidFill>
            </a:endParaRPr>
          </a:p>
          <a:p>
            <a:pPr indent="0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Importancia de automatización y control de versiones.</a:t>
            </a:r>
            <a:endParaRPr sz="2662">
              <a:solidFill>
                <a:srgbClr val="FFFFFF"/>
              </a:solidFill>
            </a:endParaRPr>
          </a:p>
          <a:p>
            <a:pPr indent="0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2">
              <a:solidFill>
                <a:srgbClr val="FFFFFF"/>
              </a:solidFill>
            </a:endParaRPr>
          </a:p>
          <a:p>
            <a:pPr indent="-397637" lvl="0" marL="457200" marR="0" rtl="0" algn="just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62"/>
              <a:buChar char="●"/>
            </a:pPr>
            <a:r>
              <a:rPr lang="en-US" sz="2662">
                <a:solidFill>
                  <a:srgbClr val="FFFFFF"/>
                </a:solidFill>
              </a:rPr>
              <a:t>Recomendaciones: monitoreo extendido, backups regulares y políticas de seguridad.</a:t>
            </a:r>
            <a:endParaRPr sz="2662">
              <a:solidFill>
                <a:srgbClr val="FFFFFF"/>
              </a:solidFill>
            </a:endParaRPr>
          </a:p>
        </p:txBody>
      </p:sp>
      <p:sp>
        <p:nvSpPr>
          <p:cNvPr id="336" name="Google Shape;336;g3a4aea1636a_1_62"/>
          <p:cNvSpPr/>
          <p:nvPr/>
        </p:nvSpPr>
        <p:spPr>
          <a:xfrm>
            <a:off x="320179" y="7495026"/>
            <a:ext cx="2701177" cy="2406503"/>
          </a:xfrm>
          <a:custGeom>
            <a:rect b="b" l="l" r="r" t="t"/>
            <a:pathLst>
              <a:path extrusionOk="0" h="2406503" w="2701177">
                <a:moveTo>
                  <a:pt x="0" y="0"/>
                </a:moveTo>
                <a:lnTo>
                  <a:pt x="2701177" y="0"/>
                </a:lnTo>
                <a:lnTo>
                  <a:pt x="2701177" y="2406503"/>
                </a:lnTo>
                <a:lnTo>
                  <a:pt x="0" y="2406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g3a4aea1636a_1_62"/>
          <p:cNvSpPr/>
          <p:nvPr/>
        </p:nvSpPr>
        <p:spPr>
          <a:xfrm>
            <a:off x="14810128" y="472082"/>
            <a:ext cx="3038928" cy="2657681"/>
          </a:xfrm>
          <a:custGeom>
            <a:rect b="b" l="l" r="r" t="t"/>
            <a:pathLst>
              <a:path extrusionOk="0" h="2657681" w="3038928">
                <a:moveTo>
                  <a:pt x="0" y="0"/>
                </a:moveTo>
                <a:lnTo>
                  <a:pt x="3038928" y="0"/>
                </a:lnTo>
                <a:lnTo>
                  <a:pt x="3038928" y="2657680"/>
                </a:lnTo>
                <a:lnTo>
                  <a:pt x="0" y="2657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g3a4aea1636a_1_62"/>
          <p:cNvSpPr txBox="1"/>
          <p:nvPr/>
        </p:nvSpPr>
        <p:spPr>
          <a:xfrm>
            <a:off x="1278199" y="629575"/>
            <a:ext cx="142950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14">
                <a:solidFill>
                  <a:srgbClr val="FFFFFF"/>
                </a:solidFill>
              </a:rPr>
              <a:t>Conclusiones y aprendizajes</a:t>
            </a:r>
            <a:endParaRPr sz="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